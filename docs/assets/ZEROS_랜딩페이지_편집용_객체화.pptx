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436475" cy="7315200"/>
  <p:notesSz cx="7315200" cy="124364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71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ED293-FA0E-594E-0E84-6BEA8A5B0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CCAC2-3759-3EE7-40E6-D8DD6CAFD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E6D85-8E93-4723-A140-FABDC68E2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8EE98-0646-EE84-81D0-EFDA4F1FA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92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3BCEE-119A-7918-6ECC-177F22C1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그림 73">
            <a:extLst>
              <a:ext uri="{FF2B5EF4-FFF2-40B4-BE49-F238E27FC236}">
                <a16:creationId xmlns:a16="http://schemas.microsoft.com/office/drawing/2014/main" id="{1ADAEDCB-707D-A867-8D42-92740A407D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568"/>
          <a:stretch>
            <a:fillRect/>
          </a:stretch>
        </p:blipFill>
        <p:spPr>
          <a:xfrm>
            <a:off x="6108192" y="780768"/>
            <a:ext cx="6327219" cy="482450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598BAB7-7D87-F508-3569-1AD1B8E65418}"/>
              </a:ext>
            </a:extLst>
          </p:cNvPr>
          <p:cNvSpPr/>
          <p:nvPr/>
        </p:nvSpPr>
        <p:spPr>
          <a:xfrm>
            <a:off x="0" y="0"/>
            <a:ext cx="12435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C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84AADF-2DAF-8C23-A8C0-AE72BBBA3770}"/>
              </a:ext>
            </a:extLst>
          </p:cNvPr>
          <p:cNvSpPr/>
          <p:nvPr/>
        </p:nvSpPr>
        <p:spPr>
          <a:xfrm>
            <a:off x="347472" y="173736"/>
            <a:ext cx="356616" cy="3566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826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B5EA5A-4AF1-52A5-72AC-1CE70FA0D7DE}"/>
              </a:ext>
            </a:extLst>
          </p:cNvPr>
          <p:cNvSpPr/>
          <p:nvPr/>
        </p:nvSpPr>
        <p:spPr>
          <a:xfrm>
            <a:off x="804672" y="1554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82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ZEROS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98D2C7-F275-EE3D-0A81-E8BBE15274F0}"/>
              </a:ext>
            </a:extLst>
          </p:cNvPr>
          <p:cNvSpPr/>
          <p:nvPr/>
        </p:nvSpPr>
        <p:spPr>
          <a:xfrm>
            <a:off x="813816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96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출장 견적 컨설팅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E97F62-E7DE-3997-8EF1-D6ED51314BBC}"/>
              </a:ext>
            </a:extLst>
          </p:cNvPr>
          <p:cNvSpPr/>
          <p:nvPr/>
        </p:nvSpPr>
        <p:spPr>
          <a:xfrm>
            <a:off x="3566583" y="310896"/>
            <a:ext cx="10054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E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검토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885D14-3539-688C-1113-F726390BDD79}"/>
              </a:ext>
            </a:extLst>
          </p:cNvPr>
          <p:cNvSpPr/>
          <p:nvPr/>
        </p:nvSpPr>
        <p:spPr>
          <a:xfrm>
            <a:off x="4435263" y="310896"/>
            <a:ext cx="10054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E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절차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2DDE8D7-EFDE-513A-8F5F-32C18E7C6235}"/>
              </a:ext>
            </a:extLst>
          </p:cNvPr>
          <p:cNvSpPr/>
          <p:nvPr/>
        </p:nvSpPr>
        <p:spPr>
          <a:xfrm>
            <a:off x="5422815" y="310895"/>
            <a:ext cx="1005417" cy="233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E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레퍼런스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1D1664-6DCC-FC6E-E857-5436DA4E5A07}"/>
              </a:ext>
            </a:extLst>
          </p:cNvPr>
          <p:cNvSpPr/>
          <p:nvPr/>
        </p:nvSpPr>
        <p:spPr>
          <a:xfrm>
            <a:off x="6611112" y="31089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E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예상견적 의뢰하기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C9CFCF8-C4B6-4835-AC93-D3253C3ED958}"/>
              </a:ext>
            </a:extLst>
          </p:cNvPr>
          <p:cNvSpPr/>
          <p:nvPr/>
        </p:nvSpPr>
        <p:spPr>
          <a:xfrm>
            <a:off x="7891695" y="288037"/>
            <a:ext cx="10054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E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인사이트</a:t>
            </a:r>
            <a:endParaRPr lang="en-US" sz="10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F3E8288-7804-E5E0-4B54-21E782C55FB3}"/>
              </a:ext>
            </a:extLst>
          </p:cNvPr>
          <p:cNvSpPr/>
          <p:nvPr/>
        </p:nvSpPr>
        <p:spPr>
          <a:xfrm>
            <a:off x="411480" y="1344168"/>
            <a:ext cx="2688336" cy="274320"/>
          </a:xfrm>
          <a:prstGeom prst="roundRect">
            <a:avLst/>
          </a:prstGeom>
          <a:solidFill>
            <a:srgbClr val="EEF5FF"/>
          </a:solidFill>
          <a:ln w="10160">
            <a:solidFill>
              <a:srgbClr val="CEE1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EF42C1C-89E0-E998-328B-93D3FC9D04A7}"/>
              </a:ext>
            </a:extLst>
          </p:cNvPr>
          <p:cNvSpPr/>
          <p:nvPr/>
        </p:nvSpPr>
        <p:spPr>
          <a:xfrm>
            <a:off x="448056" y="13258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E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Native 1차 검증 + PM 전문가 최종 검토</a:t>
            </a:r>
            <a:endParaRPr lang="en-US" sz="1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56E54B3-C6EE-27FB-EEAD-F27C6839336D}"/>
              </a:ext>
            </a:extLst>
          </p:cNvPr>
          <p:cNvSpPr/>
          <p:nvPr/>
        </p:nvSpPr>
        <p:spPr>
          <a:xfrm>
            <a:off x="411480" y="1993392"/>
            <a:ext cx="5166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2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생산라인 증설·분기 배관공사,</a:t>
            </a:r>
            <a:endParaRPr lang="en-US" sz="27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495ACD2-F0B7-F217-45CF-2F0383FAF5EE}"/>
              </a:ext>
            </a:extLst>
          </p:cNvPr>
          <p:cNvSpPr/>
          <p:nvPr/>
        </p:nvSpPr>
        <p:spPr>
          <a:xfrm>
            <a:off x="411480" y="254203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5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33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F64A85F-F13F-3522-75DA-1BD8B8CE779A}"/>
              </a:ext>
            </a:extLst>
          </p:cNvPr>
          <p:cNvSpPr/>
          <p:nvPr/>
        </p:nvSpPr>
        <p:spPr>
          <a:xfrm>
            <a:off x="1938528" y="2596896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82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더 정확하게</a:t>
            </a:r>
            <a:endParaRPr lang="en-US" sz="27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BC623AB-48E2-F913-989F-B624B15FA25D}"/>
              </a:ext>
            </a:extLst>
          </p:cNvPr>
          <p:cNvSpPr/>
          <p:nvPr/>
        </p:nvSpPr>
        <p:spPr>
          <a:xfrm>
            <a:off x="420624" y="3118104"/>
            <a:ext cx="4133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ZEROS는</a:t>
            </a:r>
            <a:r>
              <a:rPr lang="en-US" sz="1250" b="1" dirty="0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r>
              <a:rPr lang="en-US" sz="1250" b="1" dirty="0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b="1" dirty="0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</a:t>
            </a:r>
            <a:r>
              <a:rPr lang="en-US" sz="1250" b="1" dirty="0" err="1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경험과</a:t>
            </a:r>
            <a:r>
              <a:rPr lang="en-US" sz="1250" b="1" dirty="0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ko-KR" altLang="en-US" sz="1250" b="1" dirty="0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250" b="1" dirty="0" err="1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</a:t>
            </a:r>
            <a:r>
              <a:rPr lang="en-US" sz="1250" b="1" dirty="0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결합해,</a:t>
            </a:r>
            <a:endParaRPr lang="en-US" sz="12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FFFF050-DA84-89B8-D391-82C8A0292E06}"/>
              </a:ext>
            </a:extLst>
          </p:cNvPr>
          <p:cNvSpPr/>
          <p:nvPr/>
        </p:nvSpPr>
        <p:spPr>
          <a:xfrm>
            <a:off x="402336" y="3474720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4156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비용과 리스크까지 고려한 가장 합리적인 견적을 제안합니다.</a:t>
            </a:r>
            <a:endParaRPr lang="en-US" sz="125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8A43326E-6926-9544-E044-7B7BD42431B1}"/>
              </a:ext>
            </a:extLst>
          </p:cNvPr>
          <p:cNvSpPr/>
          <p:nvPr/>
        </p:nvSpPr>
        <p:spPr>
          <a:xfrm>
            <a:off x="411480" y="3931920"/>
            <a:ext cx="2185416" cy="484632"/>
          </a:xfrm>
          <a:prstGeom prst="round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39602F0-028E-9C70-156A-69C615B848D0}"/>
              </a:ext>
            </a:extLst>
          </p:cNvPr>
          <p:cNvSpPr/>
          <p:nvPr/>
        </p:nvSpPr>
        <p:spPr>
          <a:xfrm>
            <a:off x="594360" y="406908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무료 출장 </a:t>
            </a: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</a:t>
            </a: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신청</a:t>
            </a:r>
            <a:endParaRPr lang="en-US" sz="115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3650CC88-8399-E869-D244-709E0C46BCBC}"/>
              </a:ext>
            </a:extLst>
          </p:cNvPr>
          <p:cNvSpPr/>
          <p:nvPr/>
        </p:nvSpPr>
        <p:spPr>
          <a:xfrm>
            <a:off x="2761488" y="3931920"/>
            <a:ext cx="2203704" cy="4846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DE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C03A07F-E559-F067-A573-353B918A7980}"/>
              </a:ext>
            </a:extLst>
          </p:cNvPr>
          <p:cNvSpPr/>
          <p:nvPr/>
        </p:nvSpPr>
        <p:spPr>
          <a:xfrm>
            <a:off x="2912364" y="4078224"/>
            <a:ext cx="1586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E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ZEROS 진단 절차 보기</a:t>
            </a:r>
            <a:endParaRPr lang="en-US" sz="12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EC7166A9-078F-8795-79B9-4372D5083433}"/>
              </a:ext>
            </a:extLst>
          </p:cNvPr>
          <p:cNvSpPr/>
          <p:nvPr/>
        </p:nvSpPr>
        <p:spPr>
          <a:xfrm>
            <a:off x="4572000" y="4105656"/>
            <a:ext cx="246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E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E1D9DD8F-BCE3-9536-0D05-0BF05D983D4F}"/>
              </a:ext>
            </a:extLst>
          </p:cNvPr>
          <p:cNvSpPr/>
          <p:nvPr/>
        </p:nvSpPr>
        <p:spPr>
          <a:xfrm>
            <a:off x="11827764" y="4983480"/>
            <a:ext cx="466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26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endParaRPr lang="en-US" sz="95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644545A5-0DAD-A6DB-161B-4387843CEFCB}"/>
              </a:ext>
            </a:extLst>
          </p:cNvPr>
          <p:cNvSpPr/>
          <p:nvPr/>
        </p:nvSpPr>
        <p:spPr>
          <a:xfrm>
            <a:off x="0" y="5623560"/>
            <a:ext cx="12435840" cy="1691640"/>
          </a:xfrm>
          <a:prstGeom prst="rect">
            <a:avLst/>
          </a:prstGeom>
          <a:solidFill>
            <a:srgbClr val="062B64"/>
          </a:solidFill>
          <a:ln w="12700">
            <a:solidFill>
              <a:srgbClr val="062B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351EF3A1-2E78-0F9C-A5F8-750E53497452}"/>
              </a:ext>
            </a:extLst>
          </p:cNvPr>
          <p:cNvSpPr/>
          <p:nvPr/>
        </p:nvSpPr>
        <p:spPr>
          <a:xfrm>
            <a:off x="0" y="5660136"/>
            <a:ext cx="12435840" cy="1664208"/>
          </a:xfrm>
          <a:prstGeom prst="rect">
            <a:avLst/>
          </a:prstGeom>
          <a:solidFill>
            <a:schemeClr val="tx2">
              <a:lumMod val="20000"/>
              <a:lumOff val="80000"/>
              <a:alpha val="12000"/>
            </a:schemeClr>
          </a:solidFill>
          <a:ln w="12700">
            <a:solidFill>
              <a:srgbClr val="062B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D5E25AC7-1F2A-44C5-0A5E-1DFF572FD3B7}"/>
              </a:ext>
            </a:extLst>
          </p:cNvPr>
          <p:cNvSpPr/>
          <p:nvPr/>
        </p:nvSpPr>
        <p:spPr>
          <a:xfrm>
            <a:off x="0" y="5596128"/>
            <a:ext cx="12435840" cy="45720"/>
          </a:xfrm>
          <a:prstGeom prst="rect">
            <a:avLst/>
          </a:prstGeom>
          <a:solidFill>
            <a:srgbClr val="5D8EC8">
              <a:alpha val="65000"/>
            </a:srgbClr>
          </a:solidFill>
          <a:ln w="12700">
            <a:solidFill>
              <a:srgbClr val="5D8E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CE36DAFE-C949-41E0-C432-5FFF29C21B17}"/>
              </a:ext>
            </a:extLst>
          </p:cNvPr>
          <p:cNvSpPr/>
          <p:nvPr/>
        </p:nvSpPr>
        <p:spPr>
          <a:xfrm>
            <a:off x="768096" y="5925312"/>
            <a:ext cx="530352" cy="530352"/>
          </a:xfrm>
          <a:prstGeom prst="ellipse">
            <a:avLst/>
          </a:prstGeom>
          <a:solidFill>
            <a:srgbClr val="0A3678">
              <a:alpha val="45000"/>
            </a:srgbClr>
          </a:solidFill>
          <a:ln w="12700">
            <a:solidFill>
              <a:srgbClr val="8CA6C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1DABC90F-2F65-A640-BFC9-CEBC541AE13E}"/>
              </a:ext>
            </a:extLst>
          </p:cNvPr>
          <p:cNvSpPr/>
          <p:nvPr/>
        </p:nvSpPr>
        <p:spPr>
          <a:xfrm>
            <a:off x="886968" y="599846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♧</a:t>
            </a:r>
            <a:endParaRPr lang="en-US" sz="180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E69C5C0-D508-C113-F9CB-39D1C22ECF3C}"/>
              </a:ext>
            </a:extLst>
          </p:cNvPr>
          <p:cNvSpPr/>
          <p:nvPr/>
        </p:nvSpPr>
        <p:spPr>
          <a:xfrm>
            <a:off x="1495044" y="59710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DCE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</a:t>
            </a:r>
            <a:r>
              <a:rPr lang="en-US" sz="1200" b="1" dirty="0" err="1">
                <a:solidFill>
                  <a:srgbClr val="DCE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200" b="1" dirty="0">
                <a:solidFill>
                  <a:srgbClr val="DCE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신뢰도</a:t>
            </a:r>
            <a:endParaRPr lang="en-US" sz="120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8E560739-DEB8-6E2A-6718-56E8C24F694E}"/>
              </a:ext>
            </a:extLst>
          </p:cNvPr>
          <p:cNvSpPr/>
          <p:nvPr/>
        </p:nvSpPr>
        <p:spPr>
          <a:xfrm>
            <a:off x="1517904" y="62727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97.8%</a:t>
            </a:r>
            <a:endParaRPr lang="en-US" sz="2100" dirty="0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17D4E67F-94C4-4E26-7A38-54114387DFF6}"/>
              </a:ext>
            </a:extLst>
          </p:cNvPr>
          <p:cNvSpPr/>
          <p:nvPr/>
        </p:nvSpPr>
        <p:spPr>
          <a:xfrm>
            <a:off x="3218688" y="5815584"/>
            <a:ext cx="0" cy="722376"/>
          </a:xfrm>
          <a:prstGeom prst="line">
            <a:avLst/>
          </a:prstGeom>
          <a:noFill/>
          <a:ln w="12700">
            <a:solidFill>
              <a:srgbClr val="6E8AB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9406276E-7A0C-E4D2-17F6-0FB5A029AE71}"/>
              </a:ext>
            </a:extLst>
          </p:cNvPr>
          <p:cNvSpPr/>
          <p:nvPr/>
        </p:nvSpPr>
        <p:spPr>
          <a:xfrm>
            <a:off x="3767328" y="5925312"/>
            <a:ext cx="530352" cy="530352"/>
          </a:xfrm>
          <a:prstGeom prst="ellipse">
            <a:avLst/>
          </a:prstGeom>
          <a:solidFill>
            <a:srgbClr val="0A3678">
              <a:alpha val="45000"/>
            </a:srgbClr>
          </a:solidFill>
          <a:ln w="12700">
            <a:solidFill>
              <a:srgbClr val="8CA6C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219B4381-A3A4-73A2-67BA-42A16EFA28F0}"/>
              </a:ext>
            </a:extLst>
          </p:cNvPr>
          <p:cNvSpPr/>
          <p:nvPr/>
        </p:nvSpPr>
        <p:spPr>
          <a:xfrm>
            <a:off x="3886200" y="602589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◷</a:t>
            </a:r>
            <a:endParaRPr lang="en-US" sz="1800" dirty="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CFD367F7-C6BE-4156-DD58-D9A213EFAAAE}"/>
              </a:ext>
            </a:extLst>
          </p:cNvPr>
          <p:cNvSpPr/>
          <p:nvPr/>
        </p:nvSpPr>
        <p:spPr>
          <a:xfrm>
            <a:off x="4498848" y="5943600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CE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1차 검토 소요</a:t>
            </a:r>
            <a:endParaRPr lang="en-US" sz="1200" b="1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51F77714-E0BA-7AEC-EACE-4181D4061DBA}"/>
              </a:ext>
            </a:extLst>
          </p:cNvPr>
          <p:cNvSpPr/>
          <p:nvPr/>
        </p:nvSpPr>
        <p:spPr>
          <a:xfrm>
            <a:off x="4517136" y="62727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2.1일 이내</a:t>
            </a:r>
            <a:endParaRPr lang="en-US" sz="2000" dirty="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3ED1FDAA-7F2A-BAAD-838E-BC2085ACB55A}"/>
              </a:ext>
            </a:extLst>
          </p:cNvPr>
          <p:cNvSpPr/>
          <p:nvPr/>
        </p:nvSpPr>
        <p:spPr>
          <a:xfrm>
            <a:off x="6217920" y="5815584"/>
            <a:ext cx="0" cy="722376"/>
          </a:xfrm>
          <a:prstGeom prst="line">
            <a:avLst/>
          </a:prstGeom>
          <a:noFill/>
          <a:ln w="12700">
            <a:solidFill>
              <a:srgbClr val="6E8AB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3CAAA859-87B6-28DB-548B-CD48436CCD88}"/>
              </a:ext>
            </a:extLst>
          </p:cNvPr>
          <p:cNvSpPr/>
          <p:nvPr/>
        </p:nvSpPr>
        <p:spPr>
          <a:xfrm>
            <a:off x="6711696" y="5925312"/>
            <a:ext cx="530352" cy="530352"/>
          </a:xfrm>
          <a:prstGeom prst="ellipse">
            <a:avLst/>
          </a:prstGeom>
          <a:solidFill>
            <a:srgbClr val="0A3678">
              <a:alpha val="45000"/>
            </a:srgbClr>
          </a:solidFill>
          <a:ln w="12700">
            <a:solidFill>
              <a:srgbClr val="8CA6C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26C2C13F-A7E4-9339-0D31-503D5E1D221F}"/>
              </a:ext>
            </a:extLst>
          </p:cNvPr>
          <p:cNvSpPr/>
          <p:nvPr/>
        </p:nvSpPr>
        <p:spPr>
          <a:xfrm>
            <a:off x="6830568" y="6016752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⌁</a:t>
            </a:r>
            <a:endParaRPr lang="en-US" sz="1800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9FF74F9D-E83A-D7D1-A1D9-0068AB781F54}"/>
              </a:ext>
            </a:extLst>
          </p:cNvPr>
          <p:cNvSpPr/>
          <p:nvPr/>
        </p:nvSpPr>
        <p:spPr>
          <a:xfrm>
            <a:off x="7470648" y="5952744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CE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절감 효과</a:t>
            </a:r>
            <a:endParaRPr lang="en-US" sz="1200" b="1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362FFFCA-C052-06FE-5F6E-AA3433047EC0}"/>
              </a:ext>
            </a:extLst>
          </p:cNvPr>
          <p:cNvSpPr/>
          <p:nvPr/>
        </p:nvSpPr>
        <p:spPr>
          <a:xfrm>
            <a:off x="7461504" y="62727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-31.5%</a:t>
            </a:r>
            <a:endParaRPr lang="en-US" sz="2100" dirty="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E736739F-82AB-D051-A3A9-501C8CDE23EB}"/>
              </a:ext>
            </a:extLst>
          </p:cNvPr>
          <p:cNvSpPr/>
          <p:nvPr/>
        </p:nvSpPr>
        <p:spPr>
          <a:xfrm>
            <a:off x="9162288" y="5815584"/>
            <a:ext cx="0" cy="722376"/>
          </a:xfrm>
          <a:prstGeom prst="line">
            <a:avLst/>
          </a:prstGeom>
          <a:noFill/>
          <a:ln w="12700">
            <a:solidFill>
              <a:srgbClr val="6E8AB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C2FF25EB-97AF-25A9-AB8F-FDA63DC68AB5}"/>
              </a:ext>
            </a:extLst>
          </p:cNvPr>
          <p:cNvSpPr/>
          <p:nvPr/>
        </p:nvSpPr>
        <p:spPr>
          <a:xfrm>
            <a:off x="9619488" y="5925312"/>
            <a:ext cx="530352" cy="530352"/>
          </a:xfrm>
          <a:prstGeom prst="ellipse">
            <a:avLst/>
          </a:prstGeom>
          <a:solidFill>
            <a:srgbClr val="0A3678">
              <a:alpha val="45000"/>
            </a:srgbClr>
          </a:solidFill>
          <a:ln w="12700">
            <a:solidFill>
              <a:srgbClr val="8CA6C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857022AE-919E-71B2-D76F-F0F72E3A066B}"/>
              </a:ext>
            </a:extLst>
          </p:cNvPr>
          <p:cNvSpPr/>
          <p:nvPr/>
        </p:nvSpPr>
        <p:spPr>
          <a:xfrm>
            <a:off x="9747504" y="6016752"/>
            <a:ext cx="29260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▤</a:t>
            </a:r>
            <a:endParaRPr lang="en-US" sz="1800" dirty="0"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D994A40D-CF1B-A4E8-881B-99FA4A6EBFBE}"/>
              </a:ext>
            </a:extLst>
          </p:cNvPr>
          <p:cNvSpPr/>
          <p:nvPr/>
        </p:nvSpPr>
        <p:spPr>
          <a:xfrm>
            <a:off x="10346435" y="5952744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CE7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검토 건수</a:t>
            </a:r>
            <a:endParaRPr lang="en-US" sz="1200" b="1" dirty="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05061802-3A5B-9015-7896-09A877B924E6}"/>
              </a:ext>
            </a:extLst>
          </p:cNvPr>
          <p:cNvSpPr/>
          <p:nvPr/>
        </p:nvSpPr>
        <p:spPr>
          <a:xfrm>
            <a:off x="10369296" y="62727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246건+</a:t>
            </a:r>
            <a:endParaRPr lang="en-US" sz="2100" dirty="0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F084CCFD-8797-7292-45EA-3FD8E522F7BD}"/>
              </a:ext>
            </a:extLst>
          </p:cNvPr>
          <p:cNvSpPr/>
          <p:nvPr/>
        </p:nvSpPr>
        <p:spPr>
          <a:xfrm>
            <a:off x="411480" y="6702552"/>
            <a:ext cx="11612880" cy="0"/>
          </a:xfrm>
          <a:prstGeom prst="line">
            <a:avLst/>
          </a:prstGeom>
          <a:noFill/>
          <a:ln w="10160">
            <a:solidFill>
              <a:srgbClr val="91A6C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044B00D4-998F-8B42-B75D-FA48AFF700D8}"/>
              </a:ext>
            </a:extLst>
          </p:cNvPr>
          <p:cNvSpPr/>
          <p:nvPr/>
        </p:nvSpPr>
        <p:spPr>
          <a:xfrm>
            <a:off x="420624" y="6995160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2025 ZEROS Co., Ltd. All rights reserved.</a:t>
            </a:r>
            <a:endParaRPr lang="en-US" sz="950" dirty="0"/>
          </a:p>
        </p:txBody>
      </p:sp>
      <p:sp>
        <p:nvSpPr>
          <p:cNvPr id="65" name="Shape 62">
            <a:extLst>
              <a:ext uri="{FF2B5EF4-FFF2-40B4-BE49-F238E27FC236}">
                <a16:creationId xmlns:a16="http://schemas.microsoft.com/office/drawing/2014/main" id="{F74804DD-B9C7-3C59-1DE0-BCFDAEF11ACB}"/>
              </a:ext>
            </a:extLst>
          </p:cNvPr>
          <p:cNvSpPr/>
          <p:nvPr/>
        </p:nvSpPr>
        <p:spPr>
          <a:xfrm>
            <a:off x="11201400" y="6958584"/>
            <a:ext cx="0" cy="155448"/>
          </a:xfrm>
          <a:prstGeom prst="line">
            <a:avLst/>
          </a:prstGeom>
          <a:noFill/>
          <a:ln w="10160">
            <a:solidFill>
              <a:srgbClr val="9BB0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CE62906A-C1DD-C367-99D2-A1EC216A634A}"/>
              </a:ext>
            </a:extLst>
          </p:cNvPr>
          <p:cNvSpPr/>
          <p:nvPr/>
        </p:nvSpPr>
        <p:spPr>
          <a:xfrm>
            <a:off x="11475720" y="699516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문의하기</a:t>
            </a:r>
            <a:endParaRPr lang="en-US" sz="950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6BE0D439-5521-F0D9-A029-34F4D983B7D9}"/>
              </a:ext>
            </a:extLst>
          </p:cNvPr>
          <p:cNvSpPr/>
          <p:nvPr/>
        </p:nvSpPr>
        <p:spPr>
          <a:xfrm>
            <a:off x="11827764" y="5010912"/>
            <a:ext cx="429768" cy="49377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0160">
            <a:solidFill>
              <a:srgbClr val="FF0000"/>
            </a:solidFill>
            <a:prstDash val="solid"/>
          </a:ln>
          <a:effectLst>
            <a:outerShdw blurRad="25400" dist="50800" dir="2700000" algn="bl" rotWithShape="0">
              <a:srgbClr val="B6C5D6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2D64E7F0-9048-9613-AA20-7F502FF815C7}"/>
              </a:ext>
            </a:extLst>
          </p:cNvPr>
          <p:cNvSpPr/>
          <p:nvPr/>
        </p:nvSpPr>
        <p:spPr>
          <a:xfrm>
            <a:off x="11836908" y="5056631"/>
            <a:ext cx="4251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95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sz="950" b="1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9" name="Shape 10">
            <a:extLst>
              <a:ext uri="{FF2B5EF4-FFF2-40B4-BE49-F238E27FC236}">
                <a16:creationId xmlns:a16="http://schemas.microsoft.com/office/drawing/2014/main" id="{DFB9DA63-3DFB-4B8C-ED4F-F492402B05F9}"/>
              </a:ext>
            </a:extLst>
          </p:cNvPr>
          <p:cNvSpPr/>
          <p:nvPr/>
        </p:nvSpPr>
        <p:spPr>
          <a:xfrm>
            <a:off x="11512296" y="228600"/>
            <a:ext cx="749808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7EA"/>
            </a:solidFill>
            <a:prstDash val="solid"/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F83C57DA-00BB-C940-7D38-D7F8F6D5B556}"/>
              </a:ext>
            </a:extLst>
          </p:cNvPr>
          <p:cNvSpPr/>
          <p:nvPr/>
        </p:nvSpPr>
        <p:spPr>
          <a:xfrm>
            <a:off x="11383851" y="324613"/>
            <a:ext cx="976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E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12" name="Shape 62">
            <a:extLst>
              <a:ext uri="{FF2B5EF4-FFF2-40B4-BE49-F238E27FC236}">
                <a16:creationId xmlns:a16="http://schemas.microsoft.com/office/drawing/2014/main" id="{DD2B9DCD-04E6-B3E1-1771-D0598E5C6882}"/>
              </a:ext>
            </a:extLst>
          </p:cNvPr>
          <p:cNvSpPr/>
          <p:nvPr/>
        </p:nvSpPr>
        <p:spPr>
          <a:xfrm>
            <a:off x="9861803" y="6946392"/>
            <a:ext cx="0" cy="155448"/>
          </a:xfrm>
          <a:prstGeom prst="line">
            <a:avLst/>
          </a:prstGeom>
          <a:noFill/>
          <a:ln w="10160">
            <a:solidFill>
              <a:srgbClr val="9BB0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3">
            <a:extLst>
              <a:ext uri="{FF2B5EF4-FFF2-40B4-BE49-F238E27FC236}">
                <a16:creationId xmlns:a16="http://schemas.microsoft.com/office/drawing/2014/main" id="{95823D73-FF53-31D3-9A41-B9DFF43D0931}"/>
              </a:ext>
            </a:extLst>
          </p:cNvPr>
          <p:cNvSpPr/>
          <p:nvPr/>
        </p:nvSpPr>
        <p:spPr>
          <a:xfrm>
            <a:off x="10040112" y="6961632"/>
            <a:ext cx="1197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950" dirty="0">
                <a:solidFill>
                  <a:schemeClr val="bg1"/>
                </a:solidFill>
              </a:rPr>
              <a:t>개인정보처리방침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Text 54">
            <a:extLst>
              <a:ext uri="{FF2B5EF4-FFF2-40B4-BE49-F238E27FC236}">
                <a16:creationId xmlns:a16="http://schemas.microsoft.com/office/drawing/2014/main" id="{7DEE150A-460F-5DB9-DB25-858DC388AFD5}"/>
              </a:ext>
            </a:extLst>
          </p:cNvPr>
          <p:cNvSpPr/>
          <p:nvPr/>
        </p:nvSpPr>
        <p:spPr>
          <a:xfrm>
            <a:off x="379476" y="162306"/>
            <a:ext cx="292608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▤</a:t>
            </a:r>
            <a:endParaRPr lang="en-US" sz="1800" dirty="0"/>
          </a:p>
        </p:txBody>
      </p:sp>
      <p:sp>
        <p:nvSpPr>
          <p:cNvPr id="4" name="Shape 62">
            <a:extLst>
              <a:ext uri="{FF2B5EF4-FFF2-40B4-BE49-F238E27FC236}">
                <a16:creationId xmlns:a16="http://schemas.microsoft.com/office/drawing/2014/main" id="{BD4A70D9-08FB-056D-8048-4EEA1CAEED3C}"/>
              </a:ext>
            </a:extLst>
          </p:cNvPr>
          <p:cNvSpPr/>
          <p:nvPr/>
        </p:nvSpPr>
        <p:spPr>
          <a:xfrm>
            <a:off x="7306059" y="6964680"/>
            <a:ext cx="0" cy="155448"/>
          </a:xfrm>
          <a:prstGeom prst="line">
            <a:avLst/>
          </a:prstGeom>
          <a:noFill/>
          <a:ln w="10160">
            <a:solidFill>
              <a:srgbClr val="9BB0D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63">
            <a:extLst>
              <a:ext uri="{FF2B5EF4-FFF2-40B4-BE49-F238E27FC236}">
                <a16:creationId xmlns:a16="http://schemas.microsoft.com/office/drawing/2014/main" id="{0EA01873-569A-3F18-4ED3-7AEBC37F5AC5}"/>
              </a:ext>
            </a:extLst>
          </p:cNvPr>
          <p:cNvSpPr/>
          <p:nvPr/>
        </p:nvSpPr>
        <p:spPr>
          <a:xfrm>
            <a:off x="7484368" y="6979920"/>
            <a:ext cx="1197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사업자등록번호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968963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112</Words>
  <Application>Microsoft Office PowerPoint</Application>
  <PresentationFormat>사용자 지정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Theme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ZEROS 랜딩페이지 편집용 객체화</dc:title>
  <dc:subject>ZEROS landing page editable PPT recreation</dc:subject>
  <dc:creator>OpenAI</dc:creator>
  <cp:lastModifiedBy>이해룡</cp:lastModifiedBy>
  <cp:revision>17</cp:revision>
  <dcterms:created xsi:type="dcterms:W3CDTF">2026-06-12T15:14:40Z</dcterms:created>
  <dcterms:modified xsi:type="dcterms:W3CDTF">2026-06-13T01:16:43Z</dcterms:modified>
</cp:coreProperties>
</file>